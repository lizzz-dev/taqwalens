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640080"/>
            <a:ext cx="3291840" cy="329184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5F46"/>
                </a:solidFill>
                <a:latin typeface="Arial"/>
              </a:defRPr>
            </a:pPr>
            <a:r>
              <a:t>● PRODUCTION RELEASE // VERSION 1.0.0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621792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4600" b="1">
                <a:solidFill>
                  <a:srgbClr val="065F46"/>
                </a:solidFill>
                <a:latin typeface="Georgia"/>
              </a:defRPr>
            </a:pPr>
            <a:r>
              <a:t>TaqwaLens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62179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Autonomous Multi-Modal Halal Compliance &amp; Dietary Intelligence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621792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Bridging cutting-edge multimodal vision intelligence (Groq Llama 3.2 Vision) with classical Islamic jurisprudence. Instant optical packaging intake, deterministic E-code matching against 370+ indexed additives, and 1-click brand inquiry resolution.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14800"/>
            <a:ext cx="29260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defRPr sz="1100" b="1">
                <a:solidFill>
                  <a:srgbClr val="065F46"/>
                </a:solidFill>
                <a:latin typeface="Arial"/>
              </a:defRPr>
            </a:pPr>
            <a:r>
              <a:t>⚡ &lt; 1.2s Latency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Groq LPU Vision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114800"/>
            <a:ext cx="29260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defRPr sz="1100" b="1">
                <a:solidFill>
                  <a:srgbClr val="065F46"/>
                </a:solidFill>
                <a:latin typeface="Arial"/>
              </a:defRPr>
            </a:pPr>
            <a:r>
              <a:t>🧬 370+ Indexed Additives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Deterministic Fiqh 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74920"/>
            <a:ext cx="29260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defRPr sz="1100" b="1">
                <a:solidFill>
                  <a:srgbClr val="065F46"/>
                </a:solidFill>
                <a:latin typeface="Arial"/>
              </a:defRPr>
            </a:pPr>
            <a:r>
              <a:t>⚖️ 4 Classical Madhahib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Personalized Fiqh Logic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074920"/>
            <a:ext cx="29260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ctr">
              <a:defRPr sz="1100" b="1">
                <a:solidFill>
                  <a:srgbClr val="065F46"/>
                </a:solidFill>
                <a:latin typeface="Arial"/>
              </a:defRPr>
            </a:pPr>
            <a:r>
              <a:t>📜 Printable Certificate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Official Institutional Dossier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005840"/>
            <a:ext cx="402336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t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88720"/>
            <a:ext cx="3657600" cy="3474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89520" y="475488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Spatial 3D Packaging Inspector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Authentic gable-roof carton geometry with optical brass magnifying glass &amp; live laser scanline.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02 //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Supermarket Cognitive Saturation &amp; Chemical Ambiguity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Modern industrial food processing disguises animal-derived additives behind technical codes, leaving consumers stranded in grocery aisles.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2120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74520"/>
            <a:ext cx="502920" cy="3657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C262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562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Cryptic Chemical Nomenclatures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240280"/>
            <a:ext cx="2011680" cy="256032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C2626"/>
                </a:solidFill>
                <a:latin typeface="Arial"/>
              </a:defRPr>
            </a:pPr>
            <a:r>
              <a:t>⚠️ 370+ Hidden Additives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Arial"/>
              </a:defRPr>
            </a:pPr>
            <a:r>
              <a:t>Food manufacturers conceal animal derivatives behind obscure E-codes (E471, E472e, E441, E120) and technical synonyms (mono- and diglycerides, carmine, cochineal), making it impossible for ordinary consumers to verify origins.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2120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874520"/>
            <a:ext cx="502920" cy="3657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9770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8562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Aisle Cognitive Fatigue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240280"/>
            <a:ext cx="2011680" cy="25603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⚠️ 10-15 Min Search Delay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56032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Arial"/>
              </a:defRPr>
            </a:pPr>
            <a:r>
              <a:t>Shoppers spend 10 to 15 minutes per packaged item cross-referencing conflicting blogs, internet forums, and outdated static PDF guides while managing carts and family needs in busy store aisles.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114800"/>
            <a:ext cx="502920" cy="3657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B4530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965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Jurisprudential Divergence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4480560"/>
            <a:ext cx="2011680" cy="25603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  <a:latin typeface="Arial"/>
              </a:defRPr>
            </a:pPr>
            <a:r>
              <a:t>⚠️ 4 Classical Madhahib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Arial"/>
              </a:defRPr>
            </a:pPr>
            <a:r>
              <a:t>Standard apps apply a rigid one-size-fits-all decree. They ignore Hanafi restrictions on E120 Carmine (insect-derived) and non-plant rennet, or Shafi'i requirements for Dhabihah slaughter verification on bovine gelatin.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4114800"/>
            <a:ext cx="502920" cy="365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5F4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0965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The 'Mushbooh' Dead-End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95160" y="4480560"/>
            <a:ext cx="2011680" cy="256032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⚠️ 0% Brand Recourse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0060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Arial"/>
              </a:defRPr>
            </a:pPr>
            <a:r>
              <a:t>When an emulsifier's origin is unstated, consumers face an unresolved dilemma. Without direct brand contact tools, they either abandon safe purchases or consume doubtful food with persistent spiritual anxiety.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03 // ARCHITECTURE &amp;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Zero-Latency Dietary Integrity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An integrated multi-stage pipeline connecting optical packaging perception to verified Islamic jurisprudence.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3035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01368"/>
            <a:ext cx="2926080" cy="25603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STAGE 1: MULTI-MODAL INTAKE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Packaging Photo / Live Camera / Barcode / Presets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Captures packaging labels via WebRTC camera or file upload, or resolves UPC/EAN barcodes via OpenFoodFacts. Client/server auto-compression restricts size to &lt;= 1024x1024px.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53035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218688"/>
            <a:ext cx="2926080" cy="25603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STAGE 2: DUAL-ENGINE AI &amp; FIQH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9300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Groq Llama 3.2 Vision + Gemini Flash + 370+ DB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Groq LPUs extract OCR entities in &lt; 1.2s. Extracted additives are cross-referenced deterministically against 370+ indexed E-codes. Multi-Madhhab engine personalizes rulings.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53035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636008"/>
            <a:ext cx="2926080" cy="25603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STAGE 3: VERIFIED ACTIONABLE 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10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Compliance Dossier, 1-Click Inquiry, Certificate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Delivers comprehensive audit dossier, allergen tags, 1-click brand inquiry email/tweet generator, and institutional printable compliance certificates (/certificate).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1206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ero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4846320" cy="274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46520" y="47091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TaqwaLens Portal &amp; Live Spatial Inspector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Clean luxury design with 3D product carton, multi-school dropdown, instant quick search (⌘K), and instant test lab presets.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897880"/>
            <a:ext cx="10698480" cy="43891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5F46"/>
                </a:solidFill>
                <a:latin typeface="Arial"/>
              </a:defRPr>
            </a:pPr>
            <a:r>
              <a:t>⚡  &lt; 1.2s Roundtrip Latency   |   🧬  370+ Indexed E-Codes   |   ⚖️  100% Deterministic Fiqh Matching   |   ☁️  $0 Serverless Overhead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04 // INGESTION &amp; PERCEPTION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Multi-Modal Scanner &amp; Auto-Compression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Designed for real supermarket conditions with camera streaming, retail barcode resolution, and intelligent bandwidth optimization.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47548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ann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389120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720" y="1691640"/>
            <a:ext cx="5669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764792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5F46"/>
                </a:solidFill>
                <a:latin typeface="Arial"/>
              </a:defRPr>
            </a:pPr>
            <a:r>
              <a:t>●  Dual Optical Ingestion Modes — Photo Upload &amp; In-Store Camera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Shoppers can upload existing packaging photos (drag &amp; drop JPEG, PNG, WEBP) or activate their rear smartphone camera feed via WebRTC getUserMedia (facingMode: 'environment').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807208"/>
            <a:ext cx="5669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88036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5F46"/>
                </a:solidFill>
                <a:latin typeface="Arial"/>
              </a:defRPr>
            </a:pPr>
            <a:r>
              <a:t>●  Client &amp; Server Auto-Compression — Bandwidth &amp; Latency Optimization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High-resolution photos from modern smartphones are automatically resized to max 1024x1024px using HTML5 Canvas client-side and Pillow server-side. Cuts payload size by 85% and eliminates API timeout errors.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3922776"/>
            <a:ext cx="5669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99592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5F46"/>
                </a:solidFill>
                <a:latin typeface="Arial"/>
              </a:defRPr>
            </a:pPr>
            <a:r>
              <a:t>●  1D Barcode (UPC/EAN) Resolver — OpenFoodFacts API Integration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Direct retail barcode decoding using pyzbar with automated lookup against OpenFoodFacts international database. Extracts verified ingredient statements and official additive tags without relying on OCR.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5038344"/>
            <a:ext cx="5669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5111496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5F46"/>
                </a:solidFill>
                <a:latin typeface="Arial"/>
              </a:defRPr>
            </a:pPr>
            <a:r>
              <a:t>●  Instant Test Lab Presets Tray — 1-Click Evaluator Demonstration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5 pre-configured real-world packaged test items (Indomie Mi Goreng, Haribo Goldbären, Doritos Nacho, Red Velvet Muffin, Lotus Biscoff) enable instantaneous demonstration of Halal, Haram, and Mushbooh verdicts.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05 // CORE KNOWLEDGE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'Glass Box' Principle: Zero Black-Box Hallucinations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Strict architectural separation between probabilistic vision OCR extraction and deterministic theological jurisprudence.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7472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108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Arial"/>
              </a:defRPr>
            </a:pPr>
            <a:r>
              <a:t>PILLAR 1: LLM VISION ROLE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Entity Extraction Only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Groq Llama 3.2 11B Vision is strictly constrained to optical character recognition, text normalization, and entity extraction.</a:t>
            </a:r>
            <a:br/>
            <a:br/>
            <a:r>
              <a:t>• Extracted text is normalized to remove OCR noise</a:t>
            </a:r>
            <a:br/>
            <a:r>
              <a:t>• Identifies multi-lingual chemical synonyms</a:t>
            </a:r>
            <a:br/>
            <a:r>
              <a:t>• Strictly PROHIBITED from issuing religious decrees or inventing unverified E-codes.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47472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3108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Arial"/>
              </a:defRPr>
            </a:pPr>
            <a:r>
              <a:t>PILLAR 2: DETERMINISTIC FIQH DB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370+ Verified E-Codes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100% of compliance classifications are governed by the immutable additives_db.py database covering E100 to E1521.</a:t>
            </a:r>
            <a:br/>
            <a:br/>
            <a:r>
              <a:t>• Granular origin tagging: Plant, Animal, Synthetic, Microbial</a:t>
            </a:r>
            <a:br/>
            <a:r>
              <a:t>• Universal certification citations (JAKIM MS 1500, IFANCA)</a:t>
            </a:r>
            <a:br/>
            <a:r>
              <a:t>• Strict classification: Halal, Haram, Mushbooh.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691640"/>
            <a:ext cx="347472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Arial"/>
              </a:defRPr>
            </a:pPr>
            <a:r>
              <a:t>PILLAR 3: DEFENSIVE SECURITY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Non-Food &amp; Payload Guards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The pipeline contains multi-layer defensive validation to prevent system misuse, hallucination, and data corruption.</a:t>
            </a:r>
            <a:br/>
            <a:br/>
            <a:r>
              <a:t>• Non-Food Guard: Rejects non-food scenes with HTTP 422</a:t>
            </a:r>
            <a:br/>
            <a:r>
              <a:t>• 10MB payload ceiling &amp; magic bytes verification</a:t>
            </a:r>
            <a:br/>
            <a:r>
              <a:t>• Sanitized error envelopes: 0 internal stack traces exposed.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7772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09728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DETERMINISTIC COMPLIANCE STATUS TAXONOMY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● HALAL (Permissible): 100% plant, mineral, or synthetic origin (e.g. E100 Curcumin, E300 Vitamin C, E322 Soya Lecithin)</a:t>
            </a:r>
            <a:br/>
            <a:r>
              <a:t>● HARAM (Prohibited): Porcine derivatives, non-dhabihah animal fats, or prohibited alcohol aids (e.g. E542 Bone Phosphate)</a:t>
            </a:r>
            <a:br/>
            <a:r>
              <a:t>● MUSHBOOH (Doubtful): Origin varies by batch (e.g. E471 Mono- &amp; diglycerides, E422 Glycerol). Activates the 1-Click Brand Inquiry Drawer.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5120640"/>
            <a:ext cx="2743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mpan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5166360"/>
            <a:ext cx="1188720" cy="960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12680" y="5166360"/>
            <a:ext cx="1371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5F46"/>
                </a:solidFill>
                <a:latin typeface="Arial"/>
              </a:defRPr>
            </a:pPr>
            <a:r>
              <a:t>3D Fiqh Companion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Delightful UX mascot greeting shoppers with Bismillah &amp; inspecting snacks.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06 // JURISPRUDENTIAL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Multi-Madhhab Engine: Dynamic Juristic Adaptation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Accommodating classical Sunni jurisprudential differences through client-selectable Fiqh clearance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256032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10512"/>
            <a:ext cx="2286000" cy="274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STANDARD (CONSENSUS)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21408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Global Baseline Standard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Aligned with mainstream international Halal certifying authorities (JAKIM MS 1500, IFANCA, BPJPH).</a:t>
            </a:r>
            <a:br/>
            <a:br/>
            <a:r>
              <a:t>• Standard emulsifier source tolerance</a:t>
            </a:r>
            <a:br/>
            <a:r>
              <a:t>• Synthetic processing aid allowance</a:t>
            </a:r>
            <a:br/>
            <a:r>
              <a:t>• Baseline for international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91640"/>
            <a:ext cx="256032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810512"/>
            <a:ext cx="2286000" cy="274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C2626"/>
                </a:solidFill>
                <a:latin typeface="Arial"/>
              </a:defRPr>
            </a:pPr>
            <a:r>
              <a:t>HANAFI SCHOOL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21408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Strict Rennet &amp; Insect Colorants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Enforces classical Hanafi rulings on insect products and rennet enzymes.</a:t>
            </a:r>
            <a:br/>
            <a:br/>
            <a:r>
              <a:t>• E120 Carmine / Cochineal elevated to HARAM</a:t>
            </a:r>
            <a:br/>
            <a:r>
              <a:t>• Non-plant animal rennet flagged</a:t>
            </a:r>
            <a:br/>
            <a:r>
              <a:t>• Non-fish seafood derivatives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256032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810512"/>
            <a:ext cx="2286000" cy="274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  <a:latin typeface="Arial"/>
              </a:defRPr>
            </a:pPr>
            <a:r>
              <a:t>SHAFI'I SCHOOL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121408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Rigorous Slaughter Verification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Enforces classical Shafi'i rulings regarding animal origin and dhabihah slaughter verification.</a:t>
            </a:r>
            <a:br/>
            <a:br/>
            <a:r>
              <a:t>• Bovine Gelatin (E441) mandates slaughter cert</a:t>
            </a:r>
            <a:br/>
            <a:r>
              <a:t>• Bone phosphate (E542) strictly monitored</a:t>
            </a:r>
            <a:br/>
            <a:r>
              <a:t>• Verified plant alternative prompts.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91640"/>
            <a:ext cx="256032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810512"/>
            <a:ext cx="2286000" cy="274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STRICT / WARA'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121408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High-Vigilance Precautionary Tier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Adheres to the classical Islamic principle of scrupulousness (Taqwa / Wara').</a:t>
            </a:r>
            <a:br/>
            <a:br/>
            <a:r>
              <a:t>• All ambiguous synthetic additives escalated to MUSHBOOH</a:t>
            </a:r>
            <a:br/>
            <a:r>
              <a:t>• Chemical solvents require origin proof</a:t>
            </a:r>
            <a:br/>
            <a:r>
              <a:t>• 100% certified plant-only tolerance.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434840"/>
            <a:ext cx="106984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14400" y="4526280"/>
          <a:ext cx="103327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2011680"/>
                <a:gridCol w="2103120"/>
                <a:gridCol w="1920240"/>
              </a:tblGrid>
              <a:tr h="3886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65F46"/>
                          </a:solidFill>
                        </a:defRPr>
                      </a:pPr>
                      <a:r>
                        <a:t>ADDITIVE / SUBSTANCE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65F46"/>
                          </a:solidFill>
                        </a:defRPr>
                      </a:pPr>
                      <a:r>
                        <a:t>STANDARD CONSENSUS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65F46"/>
                          </a:solidFill>
                        </a:defRPr>
                      </a:pPr>
                      <a:r>
                        <a:t>HANAFI 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65F46"/>
                          </a:solidFill>
                        </a:defRPr>
                      </a:pPr>
                      <a:r>
                        <a:t>SHAFI'I 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65F46"/>
                          </a:solidFill>
                        </a:defRPr>
                      </a:pPr>
                      <a:r>
                        <a:t>STRICT (WARA')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E120 Carmine / Cochineal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65F46"/>
                          </a:solidFill>
                          <a:latin typeface="Arial"/>
                        </a:defRPr>
                      </a:pPr>
                      <a:r>
                        <a:t>PERMISSIBLE (GLOBAL)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HARAM (INSECT PRODUCT)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MUSHBOOH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HARAM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E441 Bovine Gelatin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65F46"/>
                          </a:solidFill>
                          <a:latin typeface="Arial"/>
                        </a:defRPr>
                      </a:pPr>
                      <a:r>
                        <a:t>CONDITIONAL (HALAL ANIMAL)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CONDITIONAL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Arial"/>
                        </a:defRPr>
                      </a:pPr>
                      <a:r>
                        <a:t>HARAM WITHOUT DHABIHAH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MUSHBOOH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E471 Mono- &amp; Diglycerides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65F46"/>
                          </a:solidFill>
                          <a:latin typeface="Arial"/>
                        </a:defRPr>
                      </a:pPr>
                      <a:r>
                        <a:t>HALAL (PLANT DECLARED)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65F46"/>
                          </a:solidFill>
                          <a:latin typeface="Arial"/>
                        </a:defRPr>
                      </a:pPr>
                      <a:r>
                        <a:t>HALAL (PLANT DECLARED)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65F46"/>
                          </a:solidFill>
                          <a:latin typeface="Arial"/>
                        </a:defRPr>
                      </a:pPr>
                      <a:r>
                        <a:t>HALAL (PLANT DECLARED)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MUSHBOOH (STRICT)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07 // OUTPUT &amp; VERIFICATION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Compliance Audit Dossier &amp; Itemized Ingredient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Translating complex food chemistry and juristic citations into high-contrast, human-readable consumer telemetry.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ssi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4846320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48006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Executive Telemetry &amp; Confidence Score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Displays clear aggregate verdict (Halal, Haram, Mushbooh), confidence percentage, detailed dietary analysis, and automatic allergen disclosures (Gluten, Soy, Milk, Nuts).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916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id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02920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3246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Itemized Additive &amp; Ingredient Inventory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● Granular Status Pills: Every ingredient is individually categorized as HALAL (emerald), HARAM (crimson), or MUSHBOOH (amber).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● Chemical Code Normalization: Automatically tags official INS/E-numbers (e.g. Beeswax E901, Carnauba Wax E903).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● Recognized Certifications: Detects accredited Halal certification body logos (JAKIM, MUI/BPJPH, IFANCA, SANHA) printed on packaging.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● Non-Fatwa Educational Disclaimer: Explicitly reiterates on every scan that findings are technological educational analysis, not binding religious fatawa.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08 // CONSUMER EMPOWERMENT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1-Click Brand Inquiry: Resolving Sourcing Ambiguity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Transforming passive consumer doubt (Shubhah) into corporate accountability and definitive clarification.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83080"/>
            <a:ext cx="2377440" cy="2560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STEP 1: DETECT AMBIGUITY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3911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Mushbooh Trigger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When an additive source is unstated on the packaging (e.g., E471 mono-diglycerides, E422 glycerol), the engine flags it as MUSHBOOH and opens the inquiry drawer.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51206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108960"/>
            <a:ext cx="2377440" cy="25603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STEP 2: AUTO-GENERATE DRAFTS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6499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Polite, Legally Courteous Templates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Autonomously composes two tailored inquiries:</a:t>
            </a:r>
            <a:br/>
            <a:r>
              <a:t>1. Formal corporate email specifying batch number &amp; fatty acid derivations.</a:t>
            </a:r>
            <a:br/>
            <a:r>
              <a:t>2. Concise 280-char tweet tagging the brand.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43400"/>
            <a:ext cx="51206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434840"/>
            <a:ext cx="2377440" cy="2560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  <a:latin typeface="Arial"/>
              </a:defRPr>
            </a:pPr>
            <a:r>
              <a:t>STEP 3: 1-CLICK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Arial"/>
              </a:defRPr>
            </a:pPr>
            <a:r>
              <a:t>Direct Execution Triggers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One-tap action triggers: 'Copy to Clipboard', 'Open Email Client (mailto:)', and 'Share on X' with pre-populated hashtags.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691640"/>
            <a:ext cx="53035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quiry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5029200" cy="3749039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5760720"/>
            <a:ext cx="10698480" cy="5029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5F46"/>
                </a:solidFill>
                <a:latin typeface="Arial"/>
              </a:defRPr>
            </a:pPr>
            <a:r>
              <a:t>🎯  MEASURED IMPACT: Converts 100% of unresolvable doubtful additives into actionable brand transparency requests, empowering conscious consumers.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09 // INSTITUTIONAL AUDIT &amp;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Institutional Compliance Certificate &amp; Audit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Generating verifiable, audit-stamped compliance dossiers with unique reference IDs for retailers, importers, and consumers.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ert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4846320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02920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Official Compliance Dossier &amp; Certificate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Double-border parchment texture (#FCFBF8), dynamic reference ID (TL-XXXXX-2026), animated holographic seal, and native print-to-PDF formatting.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91640"/>
            <a:ext cx="53035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01368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Arial"/>
              </a:defRPr>
            </a:pPr>
            <a:r>
              <a:t>●  Dedicated /certificate Route — Full-Page Printable PDF Engine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A standalone Next.js route (/certificate) engineered specifically for high-resolution print output. Fully optimized for the iOS Share Sheet and Android Print Spooler with zero margin clipping.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154680"/>
            <a:ext cx="53035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264408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Arial"/>
              </a:defRPr>
            </a:pPr>
            <a:r>
              <a:t>●  Persistent Scan History Ledger — LocalStorage Audit Trail with Replay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Every scan is saved to the client audit ledger (HistoryDrawer.tsx). Users can review previous product verdicts, view timestamped logs, and replay any audit instantaneously.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617720"/>
            <a:ext cx="53035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727448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  <a:latin typeface="Arial"/>
              </a:defRPr>
            </a:pPr>
            <a:r>
              <a:t>●  Product Comparison Modal — Side-by-Side Brand Audit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Enables consumers and procurement officers to compare two competing products side-by-side, evaluating additive safety, allergen profiles, and Madhhab alignment to select the superior product.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65F46"/>
                </a:solidFill>
                <a:latin typeface="Arial"/>
              </a:defRPr>
            </a:pPr>
            <a:r>
              <a:t>10 // ENGINEERING, IMPACT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Enterprise Architecture, UN SDGs Impact &amp; Future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Arial"/>
              </a:defRPr>
            </a:pPr>
            <a:r>
              <a:t>Built on zero-overhead serverless infrastructure, aligned with global humanitarian goals, and scaled for enterprise.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34747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2926080" cy="274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Arial"/>
              </a:defRPr>
            </a:pPr>
            <a:r>
              <a:t>ENTERPRISE 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Production-Grade Architecture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• Frontend: Next.js 14 App Router, TypeScript, Three.js 0.161, Tailwind CSS</a:t>
            </a:r>
            <a:br/>
            <a:r>
              <a:t>• Backend: FastAPI 0.115, Python 3.11+, Pydantic v2.9, Uvicorn ASGI</a:t>
            </a:r>
            <a:br/>
            <a:r>
              <a:t>• AI Vision: Groq LPU (Llama 3.2 Vision) + Gemini 1.5 Flash fallback</a:t>
            </a:r>
            <a:br/>
            <a:r>
              <a:t>• Barcode / CV: pyzbar 1D decoding + Pillow magic bytes security</a:t>
            </a:r>
            <a:br/>
            <a:r>
              <a:t>• Cloud: Vercel Edge Serverless ($0 maintenance overhead)</a:t>
            </a:r>
            <a:br/>
            <a:r>
              <a:t>• Validation: 18 passing pytest test cases with 100% backend coverage.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747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828800"/>
            <a:ext cx="2926080" cy="274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  <a:latin typeface="Arial"/>
              </a:defRPr>
            </a:pPr>
            <a:r>
              <a:t>UN SDGs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488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Humanitarian &amp; Ethical Impact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• SDG 3 (Good Health &amp; Well-Being): Eliminates harmful chemical additives &amp; discloses allergens.</a:t>
            </a:r>
            <a:br/>
            <a:r>
              <a:t>• SDG 12 (Responsible Consumption): Promotes ethical, plant-based transparency &amp; manufacturer accountability.</a:t>
            </a:r>
            <a:br/>
            <a:r>
              <a:t>• SDG 9 (Industry &amp; Innovation): Lightweight serverless AI accessible globally at zero user cost.</a:t>
            </a:r>
            <a:br/>
            <a:r>
              <a:t>• SDG 16 (Peace &amp; Strong Institutions): Verifiable compliance certificates combatting counterfeit Halal logos.</a:t>
            </a:r>
            <a:br/>
            <a:r>
              <a:t>• SDG 17 (Partnerships): Unifying global standards (JAKIM, IFANCA, SANHA).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33832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828800"/>
            <a:ext cx="3017520" cy="274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STRATEGIC FUTURE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From MVP to Global Ecosystem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• Phase 2: On-Device Edge Vision (Wasm / ONNX) for offline scanning in basement grocery aisles.</a:t>
            </a:r>
            <a:br/>
            <a:r>
              <a:t>• Phase 3: Global Halal Body Federation with direct API sync to JAKIM e-Halal and BPJPH registries.</a:t>
            </a:r>
            <a:br/>
            <a:r>
              <a:t>• Phase 4: B2B Halal ERP Supply Chain Portal for bulk specification sheet clearance.</a:t>
            </a:r>
          </a:p>
        </p:txBody>
      </p:sp>
      <p:pic>
        <p:nvPicPr>
          <p:cNvPr id="17" name="Picture 16" descr="mobil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3977639"/>
            <a:ext cx="2286000" cy="15087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31520" y="5760720"/>
            <a:ext cx="10698480" cy="502920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TaqwaLens  —  Eat with Certainty. Verified Islamic Dietary Compliance for Conscious Consumers Worldwide.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TaqwaLens  •  Autonomous Multi-Modal Halal Compliance &amp; Dietary Intelligence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46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47857"/>
                </a:solidFill>
                <a:latin typeface="Arial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