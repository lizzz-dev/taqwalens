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3291840" cy="36576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00" b="1">
                <a:solidFill>
                  <a:srgbClr val="FEF3C7"/>
                </a:solidFill>
              </a:defRPr>
            </a:pPr>
            <a:r>
              <a:t>● PRODUCTION RELEASE // VERSION 1.0.0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GLOBAL DIETARY INTEGRITY PLATFORM</a:t>
            </a:r>
          </a:p>
          <a:p>
            <a:pPr>
              <a:spcBef>
                <a:spcPts val="400"/>
              </a:spcBef>
              <a:defRPr sz="5400" b="1">
                <a:solidFill>
                  <a:srgbClr val="FAF8F5"/>
                </a:solidFill>
                <a:latin typeface="Georgia"/>
              </a:defRPr>
            </a:pPr>
            <a:r>
              <a:t>TaqwaLens</a:t>
            </a:r>
          </a:p>
          <a:p>
            <a:pPr>
              <a:spcBef>
                <a:spcPts val="600"/>
              </a:spcBef>
              <a:defRPr sz="2000">
                <a:solidFill>
                  <a:srgbClr val="FEF3C7"/>
                </a:solidFill>
                <a:latin typeface="Georgia"/>
              </a:defRPr>
            </a:pPr>
            <a:r>
              <a:t>Autonomous Multi-Modal Halal Compliance &amp; Dietary Intelligence System</a:t>
            </a:r>
          </a:p>
          <a:p>
            <a:pPr>
              <a:spcBef>
                <a:spcPts val="800"/>
              </a:spcBef>
              <a:defRPr sz="1300">
                <a:solidFill>
                  <a:srgbClr val="A7F3D0"/>
                </a:solidFill>
              </a:defRPr>
            </a:pPr>
            <a:r>
              <a:t>Sub-second grocery packaging OCR, deterministic verification across 370+ indexed E-codes, and nuanced classical jurisprudence across 4 Sunni legal schools.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04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⚡ SUB-SECOND VISION</a:t>
            </a:r>
          </a:p>
          <a:p>
            <a:pPr>
              <a:spcBef>
                <a:spcPts val="600"/>
              </a:spcBef>
              <a:defRPr sz="1100">
                <a:solidFill>
                  <a:srgbClr val="FAF8F5"/>
                </a:solidFill>
              </a:defRPr>
            </a:pPr>
            <a:r>
              <a:t>Groq LPU Llama 3.2 Vision OCR (&lt;1.2s) backed by automated Google Gemini 1.5 Flash failover.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04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🛡️ DETERMINISTIC FIQH</a:t>
            </a:r>
          </a:p>
          <a:p>
            <a:pPr>
              <a:spcBef>
                <a:spcPts val="600"/>
              </a:spcBef>
              <a:defRPr sz="1100">
                <a:solidFill>
                  <a:srgbClr val="FAF8F5"/>
                </a:solidFill>
              </a:defRPr>
            </a:pPr>
            <a:r>
              <a:t>Glass Box architecture with zero LLM hallucination over 370+ indexed food additives.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04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⚖️ MULTI-MADHHAB RIGOR</a:t>
            </a:r>
          </a:p>
          <a:p>
            <a:pPr>
              <a:spcBef>
                <a:spcPts val="600"/>
              </a:spcBef>
              <a:defRPr sz="1100">
                <a:solidFill>
                  <a:srgbClr val="FAF8F5"/>
                </a:solidFill>
              </a:defRPr>
            </a:pPr>
            <a:r>
              <a:t>Tailored rulings for Standard Consensus, Hanafi, Shafi'i, and Strict (Wara') high-vigilance.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EE7B7"/>
                </a:solidFill>
                <a:latin typeface="Arial"/>
              </a:defRPr>
            </a:pPr>
            <a:r>
              <a:t>Aligned with JAKIM MS 1500, IFANCA &amp; SANHA Standards   •   SLIDE 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02 // THE PROBLEM SPACE</a:t>
            </a:r>
          </a:p>
          <a:p>
            <a:pPr>
              <a:spcBef>
                <a:spcPts val="400"/>
              </a:spcBef>
              <a:defRPr sz="2400" b="1">
                <a:solidFill>
                  <a:srgbClr val="FAF8F5"/>
                </a:solidFill>
                <a:latin typeface="Georgia"/>
              </a:defRPr>
            </a:pPr>
            <a:r>
              <a:t>Supermarket Cognitive Saturation &amp; Chemical Ambiguity</a:t>
            </a:r>
          </a:p>
          <a:p>
            <a:pPr>
              <a:spcBef>
                <a:spcPts val="300"/>
              </a:spcBef>
              <a:defRPr sz="1200">
                <a:solidFill>
                  <a:srgbClr val="6EE7B7"/>
                </a:solidFill>
                <a:latin typeface="Arial"/>
              </a:defRPr>
            </a:pPr>
            <a:r>
              <a:t>Why 1.9 billion consumers face friction and doubt in grocery aisles every day.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926080" cy="1737360"/>
          </a:xfrm>
          <a:prstGeom prst="roundRect">
            <a:avLst/>
          </a:prstGeom>
          <a:solidFill>
            <a:srgbClr val="1E0A0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CA5A5"/>
                </a:solidFill>
              </a:defRPr>
            </a:pPr>
            <a:r>
              <a:t>❌ CRYPTIC E-CODES</a:t>
            </a:r>
          </a:p>
          <a:p>
            <a:pPr>
              <a:defRPr sz="1000">
                <a:solidFill>
                  <a:srgbClr val="FAF8F5"/>
                </a:solidFill>
              </a:defRPr>
            </a:pPr>
            <a:r>
              <a:t>Chemical numbers (E471, E120, E441) conceal animal derivatives behind technical jargon.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2011680"/>
            <a:ext cx="2926080" cy="1737360"/>
          </a:xfrm>
          <a:prstGeom prst="roundRect">
            <a:avLst/>
          </a:prstGeom>
          <a:solidFill>
            <a:srgbClr val="23190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210312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EF3C7"/>
                </a:solidFill>
              </a:defRPr>
            </a:pPr>
            <a:r>
              <a:t>⚠️ 15-MINUTE DELAYS</a:t>
            </a:r>
          </a:p>
          <a:p>
            <a:pPr>
              <a:defRPr sz="1000">
                <a:solidFill>
                  <a:srgbClr val="FAF8F5"/>
                </a:solidFill>
              </a:defRPr>
            </a:pPr>
            <a:r>
              <a:t>Shoppers spend 10-15 minutes Googling conflicting forum posts and outdated PDF lists.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2926080" cy="1737360"/>
          </a:xfrm>
          <a:prstGeom prst="roundRect">
            <a:avLst/>
          </a:prstGeom>
          <a:solidFill>
            <a:srgbClr val="23190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EF3C7"/>
                </a:solidFill>
              </a:defRPr>
            </a:pPr>
            <a:r>
              <a:t>⚖️ FIQH DIVERGENCE</a:t>
            </a:r>
          </a:p>
          <a:p>
            <a:pPr>
              <a:defRPr sz="1000">
                <a:solidFill>
                  <a:srgbClr val="FAF8F5"/>
                </a:solidFill>
              </a:defRPr>
            </a:pPr>
            <a:r>
              <a:t>Generic apps ignore madhhab rulings: Carmine (E120) is Haram in Hanafi but permitted elsewhere.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4023360"/>
            <a:ext cx="2926080" cy="1737360"/>
          </a:xfrm>
          <a:prstGeom prst="roundRect">
            <a:avLst/>
          </a:prstGeom>
          <a:solidFill>
            <a:srgbClr val="1E0A0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411480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CA5A5"/>
                </a:solidFill>
              </a:defRPr>
            </a:pPr>
            <a:r>
              <a:t>❓ ZERO RECOURSE</a:t>
            </a:r>
          </a:p>
          <a:p>
            <a:pPr>
              <a:defRPr sz="1000">
                <a:solidFill>
                  <a:srgbClr val="FAF8F5"/>
                </a:solidFill>
              </a:defRPr>
            </a:pPr>
            <a:r>
              <a:t>When an item is doubtful (Mushbooh), consumers have no tool to demand brand clarity.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011680"/>
            <a:ext cx="4114800" cy="3749039"/>
          </a:xfrm>
          <a:prstGeom prst="roundRect">
            <a:avLst/>
          </a:prstGeom>
          <a:solidFill>
            <a:srgbClr val="0A0F0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194560"/>
            <a:ext cx="37490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SIMULATED RETAIL INGREDIENT PANEL</a:t>
            </a:r>
          </a:p>
          <a:p>
            <a:pPr>
              <a:spcBef>
                <a:spcPts val="800"/>
              </a:spcBef>
              <a:defRPr sz="1100">
                <a:solidFill>
                  <a:srgbClr val="FAF8F5"/>
                </a:solidFill>
              </a:defRPr>
            </a:pPr>
            <a:r>
              <a:t>INGREDIENTS: Wheat Flour, Sugar, Palm Fat, Emulsifier (E471)*, Salt, Carmine (E120)**, Gelatin (E441)***, Natural Vanilla Flavoring.</a:t>
            </a:r>
          </a:p>
          <a:p>
            <a:pPr>
              <a:spcBef>
                <a:spcPts val="1200"/>
              </a:spcBef>
              <a:defRPr sz="1000">
                <a:solidFill>
                  <a:srgbClr val="F59E0B"/>
                </a:solidFill>
              </a:defRPr>
            </a:pPr>
            <a:r>
              <a:t>* E471: Ambiguous animal vs. plant fatty acid (MUSHBOOH)</a:t>
            </a:r>
          </a:p>
          <a:p>
            <a:pPr>
              <a:spcBef>
                <a:spcPts val="400"/>
              </a:spcBef>
              <a:defRPr sz="1000">
                <a:solidFill>
                  <a:srgbClr val="F87171"/>
                </a:solidFill>
              </a:defRPr>
            </a:pPr>
            <a:r>
              <a:t>** E120: Insect extract; strictly Haram in Hanafi</a:t>
            </a:r>
          </a:p>
          <a:p>
            <a:pPr>
              <a:spcBef>
                <a:spcPts val="400"/>
              </a:spcBef>
              <a:defRPr sz="1000">
                <a:solidFill>
                  <a:srgbClr val="F59E0B"/>
                </a:solidFill>
              </a:defRPr>
            </a:pPr>
            <a:r>
              <a:t>*** E441: Bovine gelatin requires verified Dhabihah slaughter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EE7B7"/>
                </a:solidFill>
                <a:latin typeface="Arial"/>
              </a:defRPr>
            </a:pPr>
            <a:r>
              <a:t>TaqwaLens Core Engineering Team // 2026   •   SLIDE 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03 // INGESTION &amp; VISION PIPELINE</a:t>
            </a:r>
          </a:p>
          <a:p>
            <a:pPr>
              <a:spcBef>
                <a:spcPts val="400"/>
              </a:spcBef>
              <a:defRPr sz="2400" b="1">
                <a:solidFill>
                  <a:srgbClr val="FAF8F5"/>
                </a:solidFill>
                <a:latin typeface="Georgia"/>
              </a:defRPr>
            </a:pPr>
            <a:r>
              <a:t>High-Speed Optical Ingestion &amp; Dual-Engine Failover</a:t>
            </a:r>
          </a:p>
          <a:p>
            <a:pPr>
              <a:spcBef>
                <a:spcPts val="300"/>
              </a:spcBef>
              <a:defRPr sz="1200">
                <a:solidFill>
                  <a:srgbClr val="6EE7B7"/>
                </a:solidFill>
                <a:latin typeface="Arial"/>
              </a:defRPr>
            </a:pPr>
            <a:r>
              <a:t>Sub-second packaging OCR with zero bandwidth waste and automated 99.9% failover.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2194560"/>
          </a:xfrm>
          <a:prstGeom prst="roundRect">
            <a:avLst/>
          </a:prstGeom>
          <a:solidFill>
            <a:srgbClr val="04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📸 1. MULTI-STREAM</a:t>
            </a:r>
          </a:p>
          <a:p>
            <a:pPr>
              <a:spcBef>
                <a:spcPts val="400"/>
              </a:spcBef>
              <a:defRPr sz="1000">
                <a:solidFill>
                  <a:srgbClr val="FAF8F5"/>
                </a:solidFill>
              </a:defRPr>
            </a:pPr>
            <a:r>
              <a:t>Live camera stream, photo upload, or 1D retail UPC/EAN barcode.</a:t>
            </a:r>
          </a:p>
          <a:p>
            <a:pPr>
              <a:spcBef>
                <a:spcPts val="600"/>
              </a:spcBef>
              <a:defRPr sz="900">
                <a:solidFill>
                  <a:srgbClr val="6EE7B7"/>
                </a:solidFill>
              </a:defRPr>
            </a:pPr>
            <a:r>
              <a:t>Canvas Max 1024px</a:t>
            </a:r>
            <a:br/>
            <a:r>
              <a:t>78% Size 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011680"/>
            <a:ext cx="2468880" cy="2194560"/>
          </a:xfrm>
          <a:prstGeom prst="roundRect">
            <a:avLst/>
          </a:prstGeom>
          <a:solidFill>
            <a:srgbClr val="063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1945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⚡ 2. GROQ LPU VISION</a:t>
            </a:r>
          </a:p>
          <a:p>
            <a:pPr>
              <a:spcBef>
                <a:spcPts val="400"/>
              </a:spcBef>
              <a:defRPr sz="1000">
                <a:solidFill>
                  <a:srgbClr val="FAF8F5"/>
                </a:solidFill>
              </a:defRPr>
            </a:pPr>
            <a:r>
              <a:t>Llama 3.2 11B Vision delivers sub-second character extraction.</a:t>
            </a:r>
          </a:p>
          <a:p>
            <a:pPr>
              <a:spcBef>
                <a:spcPts val="600"/>
              </a:spcBef>
              <a:defRPr sz="900">
                <a:solidFill>
                  <a:srgbClr val="FEF3C7"/>
                </a:solidFill>
              </a:defRPr>
            </a:pPr>
            <a:r>
              <a:t>Mean Latency: 1.18s</a:t>
            </a:r>
            <a:br/>
            <a:r>
              <a:t>Structured JSON OCR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468880" cy="2194560"/>
          </a:xfrm>
          <a:prstGeom prst="roundRect">
            <a:avLst/>
          </a:prstGeom>
          <a:solidFill>
            <a:srgbClr val="23190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🔄 3. GEMINI FAILOVER</a:t>
            </a:r>
          </a:p>
          <a:p>
            <a:pPr>
              <a:spcBef>
                <a:spcPts val="400"/>
              </a:spcBef>
              <a:defRPr sz="1000">
                <a:solidFill>
                  <a:srgbClr val="FAF8F5"/>
                </a:solidFill>
              </a:defRPr>
            </a:pPr>
            <a:r>
              <a:t>Google Gemini 1.5 Flash activated seamlessly if Groq is degraded.</a:t>
            </a:r>
          </a:p>
          <a:p>
            <a:pPr>
              <a:spcBef>
                <a:spcPts val="600"/>
              </a:spcBef>
              <a:defRPr sz="900">
                <a:solidFill>
                  <a:srgbClr val="FEF3C7"/>
                </a:solidFill>
              </a:defRPr>
            </a:pPr>
            <a:r>
              <a:t>99.9% Uptime SLA</a:t>
            </a:r>
            <a:br/>
            <a:r>
              <a:t>Automatic Retry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011680"/>
            <a:ext cx="2468880" cy="2194560"/>
          </a:xfrm>
          <a:prstGeom prst="roundRect">
            <a:avLst/>
          </a:prstGeom>
          <a:solidFill>
            <a:srgbClr val="04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1945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EE7B7"/>
                </a:solidFill>
              </a:defRPr>
            </a:pPr>
            <a:r>
              <a:t>🛡️ 4. NON-FOOD GUARD</a:t>
            </a:r>
          </a:p>
          <a:p>
            <a:pPr>
              <a:spcBef>
                <a:spcPts val="400"/>
              </a:spcBef>
              <a:defRPr sz="1000">
                <a:solidFill>
                  <a:srgbClr val="FAF8F5"/>
                </a:solidFill>
              </a:defRPr>
            </a:pPr>
            <a:r>
              <a:t>Analyzes visual features and rejects non-food scenes immediately.</a:t>
            </a:r>
          </a:p>
          <a:p>
            <a:pPr>
              <a:spcBef>
                <a:spcPts val="600"/>
              </a:spcBef>
              <a:defRPr sz="900">
                <a:solidFill>
                  <a:srgbClr val="6EE7B7"/>
                </a:solidFill>
              </a:defRPr>
            </a:pPr>
            <a:r>
              <a:t>HTTP 422 Rejection</a:t>
            </a:r>
            <a:br/>
            <a:r>
              <a:t>Zero Hallucination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2468880" cy="1371600"/>
          </a:xfrm>
          <a:prstGeom prst="roundRect">
            <a:avLst/>
          </a:prstGeom>
          <a:solidFill>
            <a:srgbClr val="050F0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EE7B7"/>
                </a:solidFill>
              </a:defRPr>
            </a:pPr>
            <a:r>
              <a:t>INFERENCE LATENCY</a:t>
            </a:r>
          </a:p>
          <a:p>
            <a:pPr>
              <a:spcBef>
                <a:spcPts val="400"/>
              </a:spcBef>
              <a:defRPr sz="1800" b="1">
                <a:solidFill>
                  <a:srgbClr val="FAF8F5"/>
                </a:solidFill>
              </a:defRPr>
            </a:pPr>
            <a:r>
              <a:t>1.18s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480560"/>
            <a:ext cx="2468880" cy="1371600"/>
          </a:xfrm>
          <a:prstGeom prst="roundRect">
            <a:avLst/>
          </a:prstGeom>
          <a:solidFill>
            <a:srgbClr val="050F0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46634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EE7B7"/>
                </a:solidFill>
              </a:defRPr>
            </a:pPr>
            <a:r>
              <a:t>PAYLOAD COMPRESSION</a:t>
            </a:r>
          </a:p>
          <a:p>
            <a:pPr>
              <a:spcBef>
                <a:spcPts val="400"/>
              </a:spcBef>
              <a:defRPr sz="1800" b="1">
                <a:solidFill>
                  <a:srgbClr val="10B981"/>
                </a:solidFill>
              </a:defRPr>
            </a:pPr>
            <a:r>
              <a:t>78% 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2468880" cy="1371600"/>
          </a:xfrm>
          <a:prstGeom prst="roundRect">
            <a:avLst/>
          </a:prstGeom>
          <a:solidFill>
            <a:srgbClr val="050F0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6634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EE7B7"/>
                </a:solidFill>
              </a:defRPr>
            </a:pPr>
            <a:r>
              <a:t>BARCODE ENGINE</a:t>
            </a:r>
          </a:p>
          <a:p>
            <a:pPr>
              <a:spcBef>
                <a:spcPts val="400"/>
              </a:spcBef>
              <a:defRPr sz="1800" b="1">
                <a:solidFill>
                  <a:srgbClr val="F59E0B"/>
                </a:solidFill>
              </a:defRPr>
            </a:pPr>
            <a:r>
              <a:t>OpenFoodFacts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4480560"/>
            <a:ext cx="2468880" cy="1371600"/>
          </a:xfrm>
          <a:prstGeom prst="roundRect">
            <a:avLst/>
          </a:prstGeom>
          <a:solidFill>
            <a:srgbClr val="050F0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46634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EE7B7"/>
                </a:solidFill>
              </a:defRPr>
            </a:pPr>
            <a:r>
              <a:t>CLOUD OVERHEAD</a:t>
            </a:r>
          </a:p>
          <a:p>
            <a:pPr>
              <a:spcBef>
                <a:spcPts val="400"/>
              </a:spcBef>
              <a:defRPr sz="1800" b="1">
                <a:solidFill>
                  <a:srgbClr val="FAF8F5"/>
                </a:solidFill>
              </a:defRPr>
            </a:pPr>
            <a:r>
              <a:t>$0.00 / 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EE7B7"/>
                </a:solidFill>
                <a:latin typeface="Arial"/>
              </a:defRPr>
            </a:pPr>
            <a:r>
              <a:t>TaqwaLens Core Engineering Team // 2026   •   SLIDE 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04 // KNOWLEDGE ENGINE</a:t>
            </a:r>
          </a:p>
          <a:p>
            <a:pPr>
              <a:spcBef>
                <a:spcPts val="400"/>
              </a:spcBef>
              <a:defRPr sz="2400" b="1">
                <a:solidFill>
                  <a:srgbClr val="FAF8F5"/>
                </a:solidFill>
                <a:latin typeface="Georgia"/>
              </a:defRPr>
            </a:pPr>
            <a:r>
              <a:t>The "Glass Box" Principle: Zero Black-Box Hallucinations</a:t>
            </a:r>
          </a:p>
          <a:p>
            <a:pPr>
              <a:spcBef>
                <a:spcPts val="300"/>
              </a:spcBef>
              <a:defRPr sz="1200">
                <a:solidFill>
                  <a:srgbClr val="6EE7B7"/>
                </a:solidFill>
                <a:latin typeface="Arial"/>
              </a:defRPr>
            </a:pPr>
            <a:r>
              <a:t>Why probabilistic LLMs must NEVER invent religious rulings or alter certified chemical databases.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291840"/>
          </a:xfrm>
          <a:prstGeom prst="roundRect">
            <a:avLst/>
          </a:prstGeom>
          <a:solidFill>
            <a:srgbClr val="052D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🟢 HALAL (PERMISSIBLE)</a:t>
            </a:r>
          </a:p>
          <a:p>
            <a:pPr>
              <a:spcBef>
                <a:spcPts val="600"/>
              </a:spcBef>
              <a:defRPr sz="1100">
                <a:solidFill>
                  <a:srgbClr val="FAF8F5"/>
                </a:solidFill>
              </a:defRPr>
            </a:pPr>
            <a:r>
              <a:t>100% plant, mineral, or synthetic sources without animal contamination.</a:t>
            </a:r>
          </a:p>
          <a:p>
            <a:pPr>
              <a:spcBef>
                <a:spcPts val="1200"/>
              </a:spcBef>
              <a:defRPr sz="1100">
                <a:solidFill>
                  <a:srgbClr val="A7F3D0"/>
                </a:solidFill>
              </a:defRPr>
            </a:pPr>
            <a:r>
              <a:t>• E100: Curcumin (Plant)</a:t>
            </a:r>
            <a:br/>
            <a:r>
              <a:t>• E300: Ascorbic Acid (Synthetic)</a:t>
            </a:r>
            <a:br/>
            <a:r>
              <a:t>• E322: Soya Lecithin (Vegetable)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291840"/>
          </a:xfrm>
          <a:prstGeom prst="roundRect">
            <a:avLst/>
          </a:prstGeom>
          <a:solidFill>
            <a:srgbClr val="280A0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7171"/>
                </a:solidFill>
              </a:defRPr>
            </a:pPr>
            <a:r>
              <a:t>🔴 HARAM (PROHIBITED)</a:t>
            </a:r>
          </a:p>
          <a:p>
            <a:pPr>
              <a:spcBef>
                <a:spcPts val="600"/>
              </a:spcBef>
              <a:defRPr sz="1100">
                <a:solidFill>
                  <a:srgbClr val="FAF8F5"/>
                </a:solidFill>
              </a:defRPr>
            </a:pPr>
            <a:r>
              <a:t>Porcine derivatives, unslaughtered animal fats, or prohibited alcohol aids.</a:t>
            </a:r>
          </a:p>
          <a:p>
            <a:pPr>
              <a:spcBef>
                <a:spcPts val="1200"/>
              </a:spcBef>
              <a:defRPr sz="1100">
                <a:solidFill>
                  <a:srgbClr val="FCA5A5"/>
                </a:solidFill>
              </a:defRPr>
            </a:pPr>
            <a:r>
              <a:t>• E120: Carmine (Insect Extract)</a:t>
            </a:r>
            <a:br/>
            <a:r>
              <a:t>• E542: Bone Phosphate (Animal)</a:t>
            </a:r>
            <a:br/>
            <a:r>
              <a:t>• E441: Porcine Gelatin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3291840"/>
          </a:xfrm>
          <a:prstGeom prst="roundRect">
            <a:avLst/>
          </a:prstGeom>
          <a:solidFill>
            <a:srgbClr val="281E0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🟡 MUSHBOOH (DOUBTFUL)</a:t>
            </a:r>
          </a:p>
          <a:p>
            <a:pPr>
              <a:spcBef>
                <a:spcPts val="600"/>
              </a:spcBef>
              <a:defRPr sz="1100">
                <a:solidFill>
                  <a:srgbClr val="FAF8F5"/>
                </a:solidFill>
              </a:defRPr>
            </a:pPr>
            <a:r>
              <a:t>Dual-origin fatty acids where plant vs. animal origin is not disclosed on packaging.</a:t>
            </a:r>
          </a:p>
          <a:p>
            <a:pPr>
              <a:spcBef>
                <a:spcPts val="1200"/>
              </a:spcBef>
              <a:defRPr sz="1100">
                <a:solidFill>
                  <a:srgbClr val="FEF3C7"/>
                </a:solidFill>
              </a:defRPr>
            </a:pPr>
            <a:r>
              <a:t>• E471: Mono- &amp; Diglycerides</a:t>
            </a:r>
            <a:br/>
            <a:r>
              <a:t>• E422: Glycerol (Fatty Acid)</a:t>
            </a:r>
            <a:br/>
            <a:r>
              <a:t>• E476: Polyglycerol Polyricinoleate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728655" cy="548640"/>
          </a:xfrm>
          <a:prstGeom prst="roundRect">
            <a:avLst/>
          </a:prstGeom>
          <a:solidFill>
            <a:srgbClr val="0A140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DATABASE SCALE: 370+ Indexed Additives Cross-Referenced with JAKIM MS 1500, IFANCA &amp; SANHA Standards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EE7B7"/>
                </a:solidFill>
                <a:latin typeface="Arial"/>
              </a:defRPr>
            </a:pPr>
            <a:r>
              <a:t>TaqwaLens Core Engineering Team // 2026   •   SLIDE 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05 // ISLAMIC JURISPRUDENCE</a:t>
            </a:r>
          </a:p>
          <a:p>
            <a:pPr>
              <a:spcBef>
                <a:spcPts val="400"/>
              </a:spcBef>
              <a:defRPr sz="2400" b="1">
                <a:solidFill>
                  <a:srgbClr val="FAF8F5"/>
                </a:solidFill>
                <a:latin typeface="Georgia"/>
              </a:defRPr>
            </a:pPr>
            <a:r>
              <a:t>Multi-Madhhab Engine: Dynamic Juristic Re-Evaluation</a:t>
            </a:r>
          </a:p>
          <a:p>
            <a:pPr>
              <a:spcBef>
                <a:spcPts val="300"/>
              </a:spcBef>
              <a:defRPr sz="1200">
                <a:solidFill>
                  <a:srgbClr val="6EE7B7"/>
                </a:solidFill>
                <a:latin typeface="Arial"/>
              </a:defRPr>
            </a:pPr>
            <a:r>
              <a:t>Personalized classical rulings across 4 Sunni legal schools with zero re-scanning required.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926080" cy="1737360"/>
          </a:xfrm>
          <a:prstGeom prst="roundRect">
            <a:avLst/>
          </a:prstGeom>
          <a:solidFill>
            <a:srgbClr val="04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🏛️ STANDARD CONSENSUS</a:t>
            </a:r>
          </a:p>
          <a:p>
            <a:pPr>
              <a:defRPr sz="1000">
                <a:solidFill>
                  <a:srgbClr val="FAF8F5"/>
                </a:solidFill>
              </a:defRPr>
            </a:pPr>
            <a:r>
              <a:t>Aligned with global Halal bodies (JAKIM, IFANCA). Broadest industrial consensus.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2011680"/>
            <a:ext cx="2926080" cy="1737360"/>
          </a:xfrm>
          <a:prstGeom prst="roundRect">
            <a:avLst/>
          </a:prstGeom>
          <a:solidFill>
            <a:srgbClr val="23190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210312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⚖️ HANAFI SCHOOL</a:t>
            </a:r>
          </a:p>
          <a:p>
            <a:pPr>
              <a:defRPr sz="1000">
                <a:solidFill>
                  <a:srgbClr val="FAF8F5"/>
                </a:solidFill>
              </a:defRPr>
            </a:pPr>
            <a:r>
              <a:t>Strict prohibition on insect-derived food dyes (E120 Carmine) and non-plant rennet.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2926080" cy="1737360"/>
          </a:xfrm>
          <a:prstGeom prst="roundRect">
            <a:avLst/>
          </a:prstGeom>
          <a:solidFill>
            <a:srgbClr val="04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EE7B7"/>
                </a:solidFill>
              </a:defRPr>
            </a:pPr>
            <a:r>
              <a:t>📜 SHAFI'I SCHOOL</a:t>
            </a:r>
          </a:p>
          <a:p>
            <a:pPr>
              <a:defRPr sz="1000">
                <a:solidFill>
                  <a:srgbClr val="FAF8F5"/>
                </a:solidFill>
              </a:defRPr>
            </a:pPr>
            <a:r>
              <a:t>Rigorous slaughter verification for bovine gelatin (E441) and bone phosphate.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4023360"/>
            <a:ext cx="2926080" cy="1737360"/>
          </a:xfrm>
          <a:prstGeom prst="roundRect">
            <a:avLst/>
          </a:prstGeom>
          <a:solidFill>
            <a:srgbClr val="23190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411480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EF3C7"/>
                </a:solidFill>
              </a:defRPr>
            </a:pPr>
            <a:r>
              <a:t>🛡️ STRICT (WARA' TIER)</a:t>
            </a:r>
          </a:p>
          <a:p>
            <a:pPr>
              <a:defRPr sz="1000">
                <a:solidFill>
                  <a:srgbClr val="FAF8F5"/>
                </a:solidFill>
              </a:defRPr>
            </a:pPr>
            <a:r>
              <a:t>Maximum vigilance tier: flags all synthetic chemical carriers &amp; ambiguous solvents.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011680"/>
            <a:ext cx="4114800" cy="3749039"/>
          </a:xfrm>
          <a:prstGeom prst="roundRect">
            <a:avLst/>
          </a:prstGeom>
          <a:solidFill>
            <a:srgbClr val="0A0F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194560"/>
            <a:ext cx="37490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LIVE JURISTIC CASE STUDY</a:t>
            </a:r>
          </a:p>
          <a:p>
            <a:pPr>
              <a:spcBef>
                <a:spcPts val="600"/>
              </a:spcBef>
              <a:defRPr sz="1100">
                <a:solidFill>
                  <a:srgbClr val="FAF8F5"/>
                </a:solidFill>
              </a:defRPr>
            </a:pPr>
            <a:r>
              <a:t>Product: Strawberry Macaron (Contains E120 Carmine)</a:t>
            </a:r>
          </a:p>
          <a:p>
            <a:pPr>
              <a:spcBef>
                <a:spcPts val="1000"/>
              </a:spcBef>
              <a:defRPr sz="1000">
                <a:solidFill>
                  <a:srgbClr val="10B981"/>
                </a:solidFill>
              </a:defRPr>
            </a:pPr>
            <a:r>
              <a:t>1. Under Standard Consensus:</a:t>
            </a:r>
            <a:br/>
            <a:r>
              <a:t>   VERDICT: CONDITIONAL / PERMISSIBLE</a:t>
            </a:r>
            <a:br/>
            <a:r>
              <a:t>   Purified carmine is tolerated under global certification thresholds.</a:t>
            </a:r>
          </a:p>
          <a:p>
            <a:pPr>
              <a:spcBef>
                <a:spcPts val="1000"/>
              </a:spcBef>
              <a:defRPr sz="1000">
                <a:solidFill>
                  <a:srgbClr val="F87171"/>
                </a:solidFill>
              </a:defRPr>
            </a:pPr>
            <a:r>
              <a:t>2. Under Hanafi Profile:</a:t>
            </a:r>
            <a:br/>
            <a:r>
              <a:t>   VERDICT: HARAM DETECTED</a:t>
            </a:r>
            <a:br/>
            <a:r>
              <a:t>   Classical rulings strictly prohibit land insect extracts for oral consumption.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EE7B7"/>
                </a:solidFill>
                <a:latin typeface="Arial"/>
              </a:defRPr>
            </a:pPr>
            <a:r>
              <a:t>TaqwaLens Core Engineering Team // 2026   •   SLIDE 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06 // CONSUMER EMPOWERMENT</a:t>
            </a:r>
          </a:p>
          <a:p>
            <a:pPr>
              <a:spcBef>
                <a:spcPts val="400"/>
              </a:spcBef>
              <a:defRPr sz="2400" b="1">
                <a:solidFill>
                  <a:srgbClr val="FAF8F5"/>
                </a:solidFill>
                <a:latin typeface="Georgia"/>
              </a:defRPr>
            </a:pPr>
            <a:r>
              <a:t>1-Click Brand Inquiry: Resolving Sourcing Ambiguity</a:t>
            </a:r>
          </a:p>
          <a:p>
            <a:pPr>
              <a:spcBef>
                <a:spcPts val="300"/>
              </a:spcBef>
              <a:defRPr sz="1200">
                <a:solidFill>
                  <a:srgbClr val="6EE7B7"/>
                </a:solidFill>
                <a:latin typeface="Arial"/>
              </a:defRPr>
            </a:pPr>
            <a:r>
              <a:t>Shifting consumers from passive confusion to active civic and manufacturer accountability.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4114800" cy="3749039"/>
          </a:xfrm>
          <a:prstGeom prst="roundRect">
            <a:avLst/>
          </a:prstGeom>
          <a:solidFill>
            <a:srgbClr val="04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7490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✉️ AUTOMATED CORPORATE EMAIL</a:t>
            </a:r>
          </a:p>
          <a:p>
            <a:pPr>
              <a:spcBef>
                <a:spcPts val="400"/>
              </a:spcBef>
              <a:defRPr sz="1100">
                <a:solidFill>
                  <a:srgbClr val="FAF8F5"/>
                </a:solidFill>
              </a:defRPr>
            </a:pPr>
            <a:r>
              <a:t>Pre-populates formal inquiries specifying exact E-codes, batch codes, and technical origin questions.</a:t>
            </a:r>
          </a:p>
          <a:p>
            <a:pPr>
              <a:spcBef>
                <a:spcPts val="1200"/>
              </a:spcBef>
              <a:defRPr sz="1200" b="1">
                <a:solidFill>
                  <a:srgbClr val="6EE7B7"/>
                </a:solidFill>
              </a:defRPr>
            </a:pPr>
            <a:r>
              <a:t>🐦 280-CHAR PUBLIC X POST</a:t>
            </a:r>
          </a:p>
          <a:p>
            <a:pPr>
              <a:spcBef>
                <a:spcPts val="400"/>
              </a:spcBef>
              <a:defRPr sz="1100">
                <a:solidFill>
                  <a:srgbClr val="FAF8F5"/>
                </a:solidFill>
              </a:defRPr>
            </a:pPr>
            <a:r>
              <a:t>Generates concise social media posts querying brand handles to encourage public transparency.</a:t>
            </a:r>
          </a:p>
          <a:p>
            <a:pPr>
              <a:spcBef>
                <a:spcPts val="1200"/>
              </a:spcBef>
              <a:defRPr sz="1200" b="1">
                <a:solidFill>
                  <a:srgbClr val="10B981"/>
                </a:solidFill>
              </a:defRPr>
            </a:pPr>
            <a:r>
              <a:t>💡 ACTIONABLE IMPACT</a:t>
            </a:r>
          </a:p>
          <a:p>
            <a:pPr>
              <a:spcBef>
                <a:spcPts val="400"/>
              </a:spcBef>
              <a:defRPr sz="1100">
                <a:solidFill>
                  <a:srgbClr val="A7F3D0"/>
                </a:solidFill>
              </a:defRPr>
            </a:pPr>
            <a:r>
              <a:t>Empowers consumer voice and drives multinational brands to disclose plant vs. animal sourcing.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011680"/>
            <a:ext cx="6217920" cy="3749039"/>
          </a:xfrm>
          <a:prstGeom prst="roundRect">
            <a:avLst/>
          </a:prstGeom>
          <a:solidFill>
            <a:srgbClr val="0A0F0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2194560"/>
            <a:ext cx="58521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GENERATED BRAND INQUIRY DRAFT (Target: E471 Emulsifier)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Subject: Inquiry Regarding Ingredient Sourcing for [Product Name]</a:t>
            </a:r>
          </a:p>
          <a:p>
            <a:pPr>
              <a:spcBef>
                <a:spcPts val="600"/>
              </a:spcBef>
              <a:defRPr sz="1000">
                <a:solidFill>
                  <a:srgbClr val="FAF8F5"/>
                </a:solidFill>
              </a:defRPr>
            </a:pPr>
            <a:r>
              <a:t>Dear Consumer Relations Team,</a:t>
            </a:r>
            <a:br/>
            <a:br/>
            <a:r>
              <a:t>I am writing to verify the origin of Mono- and diglycerides of fatty acids (E471) listed in your product. Could you clarify whether this emulsifier is derived from 100% vegetable oils or animal fats?</a:t>
            </a:r>
            <a:br/>
            <a:br/>
            <a:r>
              <a:t>Additionally, could you confirm whether any alcohol processing aids or porcine enzymes are utilized in this manufacturing facility? Thank you.</a:t>
            </a:r>
          </a:p>
          <a:p>
            <a:pPr>
              <a:spcBef>
                <a:spcPts val="1200"/>
              </a:spcBef>
              <a:defRPr sz="1000" b="1">
                <a:solidFill>
                  <a:srgbClr val="FEF3C7"/>
                </a:solidFill>
              </a:defRPr>
            </a:pPr>
            <a:r>
              <a:t>[ Actions: 📋 Copy to Clipboard   |   ✉️ Launch Default Mail   |   🐦 Share on X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EE7B7"/>
                </a:solidFill>
                <a:latin typeface="Arial"/>
              </a:defRPr>
            </a:pPr>
            <a:r>
              <a:t>TaqwaLens Core Engineering Team // 2026   •   SLIDE 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07 // AUDIT &amp; COMPLIANCE</a:t>
            </a:r>
          </a:p>
          <a:p>
            <a:pPr>
              <a:spcBef>
                <a:spcPts val="400"/>
              </a:spcBef>
              <a:defRPr sz="2400" b="1">
                <a:solidFill>
                  <a:srgbClr val="FAF8F5"/>
                </a:solidFill>
                <a:latin typeface="Georgia"/>
              </a:defRPr>
            </a:pPr>
            <a:r>
              <a:t>Institutional Compliance Certificate Dossier</a:t>
            </a:r>
          </a:p>
          <a:p>
            <a:pPr>
              <a:spcBef>
                <a:spcPts val="300"/>
              </a:spcBef>
              <a:defRPr sz="1200">
                <a:solidFill>
                  <a:srgbClr val="6EE7B7"/>
                </a:solidFill>
                <a:latin typeface="Arial"/>
              </a:defRPr>
            </a:pPr>
            <a:r>
              <a:t>Printable, audit-grade verification artifacts for consumers, retailers, and food importers.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4114800" cy="3749039"/>
          </a:xfrm>
          <a:prstGeom prst="roundRect">
            <a:avLst/>
          </a:prstGeom>
          <a:solidFill>
            <a:srgbClr val="04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7490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📜 LEGAL DIPLOMA LAYOUT</a:t>
            </a:r>
          </a:p>
          <a:p>
            <a:pPr>
              <a:spcBef>
                <a:spcPts val="400"/>
              </a:spcBef>
              <a:defRPr sz="1100">
                <a:solidFill>
                  <a:srgbClr val="FAF8F5"/>
                </a:solidFill>
              </a:defRPr>
            </a:pPr>
            <a:r>
              <a:t>Dedicated route at /certificate featuring parchment styling (#FCFBF8) and gold filigree border.</a:t>
            </a:r>
          </a:p>
          <a:p>
            <a:pPr>
              <a:spcBef>
                <a:spcPts val="1200"/>
              </a:spcBef>
              <a:defRPr sz="1200" b="1">
                <a:solidFill>
                  <a:srgbClr val="10B981"/>
                </a:solidFill>
              </a:defRPr>
            </a:pPr>
            <a:r>
              <a:t>🖨️ NATIVE PRINT ENGINE</a:t>
            </a:r>
          </a:p>
          <a:p>
            <a:pPr>
              <a:spcBef>
                <a:spcPts val="400"/>
              </a:spcBef>
              <a:defRPr sz="1100">
                <a:solidFill>
                  <a:srgbClr val="FAF8F5"/>
                </a:solidFill>
              </a:defRPr>
            </a:pPr>
            <a:r>
              <a:t>Native print-to-PDF stylesheet, iOS Share Sheet, and Android print spooler ready.</a:t>
            </a:r>
          </a:p>
          <a:p>
            <a:pPr>
              <a:spcBef>
                <a:spcPts val="1200"/>
              </a:spcBef>
              <a:defRPr sz="1200" b="1">
                <a:solidFill>
                  <a:srgbClr val="6EE7B7"/>
                </a:solidFill>
              </a:defRPr>
            </a:pPr>
            <a:r>
              <a:t>🔒 AUDIT LEDGER TRAIL</a:t>
            </a:r>
          </a:p>
          <a:p>
            <a:pPr>
              <a:spcBef>
                <a:spcPts val="400"/>
              </a:spcBef>
              <a:defRPr sz="1100">
                <a:solidFill>
                  <a:srgbClr val="FAF8F5"/>
                </a:solidFill>
              </a:defRPr>
            </a:pPr>
            <a:r>
              <a:t>Generates unique certificate UUIDs (TL-88421-2026) with local storage ledger persistence.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011680"/>
            <a:ext cx="6217920" cy="3749039"/>
          </a:xfrm>
          <a:prstGeom prst="roundRect">
            <a:avLst/>
          </a:prstGeom>
          <a:solidFill>
            <a:srgbClr val="FCFBF8"/>
          </a:solidFill>
          <a:ln w="1905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2194560"/>
            <a:ext cx="58521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2F"/>
                </a:solidFill>
              </a:defRPr>
            </a:pPr>
            <a:r>
              <a:t>TAQWALENS COMPLIANCE AUTHORITY</a:t>
            </a:r>
          </a:p>
          <a:p>
            <a:pPr>
              <a:defRPr sz="1800" b="1">
                <a:solidFill>
                  <a:srgbClr val="1E3A2F"/>
                </a:solidFill>
                <a:latin typeface="Georgia"/>
              </a:defRPr>
            </a:pPr>
            <a:r>
              <a:t>Institutional Verification Dossier</a:t>
            </a:r>
          </a:p>
          <a:p>
            <a:pPr>
              <a:spcBef>
                <a:spcPts val="600"/>
              </a:spcBef>
              <a:defRPr sz="1000" i="1">
                <a:solidFill>
                  <a:srgbClr val="475569"/>
                </a:solidFill>
              </a:defRPr>
            </a:pPr>
            <a:r>
              <a:t>This official dossier certifies that the inspected food product:</a:t>
            </a:r>
          </a:p>
          <a:p>
            <a:pPr>
              <a:spcBef>
                <a:spcPts val="400"/>
              </a:spcBef>
              <a:defRPr sz="1200" b="1">
                <a:solidFill>
                  <a:srgbClr val="1E3A2F"/>
                </a:solidFill>
              </a:defRPr>
            </a:pPr>
            <a:r>
              <a:t>Artisan Oat Milk &amp; Almond Crunch Bar (UPC: 890123456789)</a:t>
            </a:r>
          </a:p>
          <a:p>
            <a:pPr>
              <a:spcBef>
                <a:spcPts val="600"/>
              </a:spcBef>
              <a:defRPr sz="1000">
                <a:solidFill>
                  <a:srgbClr val="047857"/>
                </a:solidFill>
              </a:defRPr>
            </a:pPr>
            <a:r>
              <a:t>Verdict: HALAL VERIFIED  •  Juristic Profile: Standard Consensus</a:t>
            </a:r>
            <a:br/>
            <a:r>
              <a:t>Detected Certifications: JAKIM Halal Certified, IFANCA Verified</a:t>
            </a:r>
          </a:p>
          <a:p>
            <a:pPr>
              <a:spcBef>
                <a:spcPts val="1000"/>
              </a:spcBef>
              <a:defRPr sz="900">
                <a:solidFill>
                  <a:srgbClr val="64748B"/>
                </a:solidFill>
              </a:defRPr>
            </a:pPr>
            <a:r>
              <a:t>Dossier ID: TL-88421-2026   •   Groq LPU + 370+ E-Code Engine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EE7B7"/>
                </a:solidFill>
                <a:latin typeface="Arial"/>
              </a:defRPr>
            </a:pPr>
            <a:r>
              <a:t>TaqwaLens Core Engineering Team // 2026   •   SLIDE 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08 // SYSTEM ENGINEERING</a:t>
            </a:r>
          </a:p>
          <a:p>
            <a:pPr>
              <a:spcBef>
                <a:spcPts val="400"/>
              </a:spcBef>
              <a:defRPr sz="2400" b="1">
                <a:solidFill>
                  <a:srgbClr val="FAF8F5"/>
                </a:solidFill>
                <a:latin typeface="Georgia"/>
              </a:defRPr>
            </a:pPr>
            <a:r>
              <a:t>Enterprise Full-Stack Architecture &amp; Defensive Security</a:t>
            </a:r>
          </a:p>
          <a:p>
            <a:pPr>
              <a:spcBef>
                <a:spcPts val="300"/>
              </a:spcBef>
              <a:defRPr sz="1200">
                <a:solidFill>
                  <a:srgbClr val="6EE7B7"/>
                </a:solidFill>
                <a:latin typeface="Arial"/>
              </a:defRPr>
            </a:pPr>
            <a:r>
              <a:t>Modern web stack hardened against GPU memory leaks, polyglot payloads, and unauthorized access.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3749039"/>
          </a:xfrm>
          <a:prstGeom prst="roundRect">
            <a:avLst/>
          </a:prstGeom>
          <a:solidFill>
            <a:srgbClr val="04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75488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📐 FULL-STACK TOPOLOGY</a:t>
            </a:r>
          </a:p>
          <a:p>
            <a:pPr>
              <a:spcBef>
                <a:spcPts val="800"/>
              </a:spcBef>
              <a:defRPr sz="1000">
                <a:solidFill>
                  <a:srgbClr val="FAF8F5"/>
                </a:solidFill>
              </a:defRPr>
            </a:pPr>
            <a:r>
              <a:t>• Frontend Framework: Next.js 14.2+ (App Router), React 18, TypeScript, Tailwind CSS</a:t>
            </a:r>
          </a:p>
          <a:p>
            <a:pPr>
              <a:spcBef>
                <a:spcPts val="800"/>
              </a:spcBef>
              <a:defRPr sz="1000">
                <a:solidFill>
                  <a:srgbClr val="FAF8F5"/>
                </a:solidFill>
              </a:defRPr>
            </a:pPr>
            <a:r>
              <a:t>• 3D Graphics Engine: Three.js 0.161 with forceContextLoss() GPU lifecycle protection</a:t>
            </a:r>
          </a:p>
          <a:p>
            <a:pPr>
              <a:spcBef>
                <a:spcPts val="800"/>
              </a:spcBef>
              <a:defRPr sz="1000">
                <a:solidFill>
                  <a:srgbClr val="FAF8F5"/>
                </a:solidFill>
              </a:defRPr>
            </a:pPr>
            <a:r>
              <a:t>• Backend Framework: FastAPI 0.115 (Python 3.11+), Pydantic v2 declarative schemas</a:t>
            </a:r>
          </a:p>
          <a:p>
            <a:pPr>
              <a:spcBef>
                <a:spcPts val="800"/>
              </a:spcBef>
              <a:defRPr sz="1000">
                <a:solidFill>
                  <a:srgbClr val="FAF8F5"/>
                </a:solidFill>
              </a:defRPr>
            </a:pPr>
            <a:r>
              <a:t>• Vision Ingestion: Groq LPU (Llama 3.2 Vision) + Google Gemini 1.5 Flash fallback</a:t>
            </a:r>
          </a:p>
          <a:p>
            <a:pPr>
              <a:spcBef>
                <a:spcPts val="800"/>
              </a:spcBef>
              <a:defRPr sz="1000">
                <a:solidFill>
                  <a:srgbClr val="FAF8F5"/>
                </a:solidFill>
              </a:defRPr>
            </a:pPr>
            <a:r>
              <a:t>• Barcode Resolution: pyzbar 1D decoding + OpenFoodFacts International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5120640" cy="3749039"/>
          </a:xfrm>
          <a:prstGeom prst="roundRect">
            <a:avLst/>
          </a:prstGeom>
          <a:solidFill>
            <a:srgbClr val="04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75488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🛡️ DEFENSIVE SECURITY FORTRESS</a:t>
            </a:r>
          </a:p>
          <a:p>
            <a:pPr>
              <a:spcBef>
                <a:spcPts val="800"/>
              </a:spcBef>
              <a:defRPr sz="1000">
                <a:solidFill>
                  <a:srgbClr val="FAF8F5"/>
                </a:solidFill>
              </a:defRPr>
            </a:pPr>
            <a:r>
              <a:t>• Strict 10MB Ceiling: Rejects oversized payloads with HTTP 413 to prevent RAM exhaustion.</a:t>
            </a:r>
          </a:p>
          <a:p>
            <a:pPr>
              <a:spcBef>
                <a:spcPts val="800"/>
              </a:spcBef>
              <a:defRPr sz="1000">
                <a:solidFill>
                  <a:srgbClr val="FAF8F5"/>
                </a:solidFill>
              </a:defRPr>
            </a:pPr>
            <a:r>
              <a:t>• Magic Byte Verification: Pillow header parsing ensures genuine JPEG/PNG/WEBP streams.</a:t>
            </a:r>
          </a:p>
          <a:p>
            <a:pPr>
              <a:spcBef>
                <a:spcPts val="800"/>
              </a:spcBef>
              <a:defRPr sz="1000">
                <a:solidFill>
                  <a:srgbClr val="FAF8F5"/>
                </a:solidFill>
              </a:defRPr>
            </a:pPr>
            <a:r>
              <a:t>• Confidential Error Masking: Zero internal stack traces or API keys leak to clients.</a:t>
            </a:r>
          </a:p>
          <a:p>
            <a:pPr>
              <a:spcBef>
                <a:spcPts val="800"/>
              </a:spcBef>
              <a:defRPr sz="1000">
                <a:solidFill>
                  <a:srgbClr val="FAF8F5"/>
                </a:solidFill>
              </a:defRPr>
            </a:pPr>
            <a:r>
              <a:t>• Strict CORS Whitelist: Restricted strictly to authorized origins; no wildcards in production.</a:t>
            </a:r>
          </a:p>
          <a:p>
            <a:pPr>
              <a:spcBef>
                <a:spcPts val="800"/>
              </a:spcBef>
              <a:defRPr sz="1000">
                <a:solidFill>
                  <a:srgbClr val="FAF8F5"/>
                </a:solidFill>
              </a:defRPr>
            </a:pPr>
            <a:r>
              <a:t>• 18/18 Automated Pytest Suite: 100% passing automated regression tests across all API endpoints.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EE7B7"/>
                </a:solidFill>
                <a:latin typeface="Arial"/>
              </a:defRPr>
            </a:pPr>
            <a:r>
              <a:t>TaqwaLens Core Engineering Team // 2026   •   SLIDE 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09 // IMPACT &amp; SUSTAINABILITY</a:t>
            </a:r>
          </a:p>
          <a:p>
            <a:pPr>
              <a:spcBef>
                <a:spcPts val="400"/>
              </a:spcBef>
              <a:defRPr sz="2400" b="1">
                <a:solidFill>
                  <a:srgbClr val="FAF8F5"/>
                </a:solidFill>
                <a:latin typeface="Georgia"/>
              </a:defRPr>
            </a:pPr>
            <a:r>
              <a:t>Measurable Humanitarian Impact &amp; UN SDGs Alignment</a:t>
            </a:r>
          </a:p>
          <a:p>
            <a:pPr>
              <a:spcBef>
                <a:spcPts val="300"/>
              </a:spcBef>
              <a:defRPr sz="1200">
                <a:solidFill>
                  <a:srgbClr val="6EE7B7"/>
                </a:solidFill>
                <a:latin typeface="Arial"/>
              </a:defRPr>
            </a:pPr>
            <a:r>
              <a:t>Accelerating 5 United Nations Sustainable Development Goals through high-tech dietary intelligence.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4114800" cy="3749039"/>
          </a:xfrm>
          <a:prstGeom prst="roundRect">
            <a:avLst/>
          </a:prstGeom>
          <a:solidFill>
            <a:srgbClr val="04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7490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BEFORE VS. AFTER KPIS</a:t>
            </a:r>
          </a:p>
          <a:p>
            <a:pPr>
              <a:spcBef>
                <a:spcPts val="800"/>
              </a:spcBef>
              <a:defRPr sz="1000">
                <a:solidFill>
                  <a:srgbClr val="FAF8F5"/>
                </a:solidFill>
              </a:defRPr>
            </a:pPr>
            <a:r>
              <a:t>Mean Time to Audit (MTTA):</a:t>
            </a:r>
            <a:br/>
            <a:r>
              <a:t>15 min → 1.18s (92% Reduction)</a:t>
            </a:r>
          </a:p>
          <a:p>
            <a:pPr>
              <a:spcBef>
                <a:spcPts val="800"/>
              </a:spcBef>
              <a:defRPr sz="1000">
                <a:solidFill>
                  <a:srgbClr val="FAF8F5"/>
                </a:solidFill>
              </a:defRPr>
            </a:pPr>
            <a:r>
              <a:t>E-Code Coverage:</a:t>
            </a:r>
            <a:br/>
            <a:r>
              <a:t>~5 codes → 370+ Additives (Universal Taxonomy)</a:t>
            </a:r>
          </a:p>
          <a:p>
            <a:pPr>
              <a:spcBef>
                <a:spcPts val="800"/>
              </a:spcBef>
              <a:defRPr sz="1000">
                <a:solidFill>
                  <a:srgbClr val="FAF8F5"/>
                </a:solidFill>
              </a:defRPr>
            </a:pPr>
            <a:r>
              <a:t>Mushbooh Resolution:</a:t>
            </a:r>
            <a:br/>
            <a:r>
              <a:t>Doubt → 1-Click Inquiry (Direct Brand Recourse)</a:t>
            </a:r>
          </a:p>
          <a:p>
            <a:pPr>
              <a:spcBef>
                <a:spcPts val="800"/>
              </a:spcBef>
              <a:defRPr sz="1000">
                <a:solidFill>
                  <a:srgbClr val="FAF8F5"/>
                </a:solidFill>
              </a:defRPr>
            </a:pPr>
            <a:r>
              <a:t>Infrastructure Cost:</a:t>
            </a:r>
            <a:br/>
            <a:r>
              <a:t>$$$ → $0 Serverless (Zero-Cost Cloud SLA)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011680"/>
            <a:ext cx="6217920" cy="3749039"/>
          </a:xfrm>
          <a:prstGeom prst="roundRect">
            <a:avLst/>
          </a:prstGeom>
          <a:solidFill>
            <a:srgbClr val="04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2194560"/>
            <a:ext cx="58521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UNITED NATIONS SDGS ALIGNMENT</a:t>
            </a:r>
          </a:p>
          <a:p>
            <a:pPr>
              <a:spcBef>
                <a:spcPts val="600"/>
              </a:spcBef>
              <a:defRPr sz="950">
                <a:solidFill>
                  <a:srgbClr val="FAF8F5"/>
                </a:solidFill>
              </a:defRPr>
            </a:pPr>
            <a:r>
              <a:t>• SDG 3: Good Health &amp; Well-Being:</a:t>
            </a:r>
            <a:br/>
            <a:r>
              <a:t>  Target 3.9: Allergen &amp; toxic chemical preservative screening alongside Halal checks.</a:t>
            </a:r>
          </a:p>
          <a:p>
            <a:pPr>
              <a:spcBef>
                <a:spcPts val="600"/>
              </a:spcBef>
              <a:defRPr sz="950">
                <a:solidFill>
                  <a:srgbClr val="FAF8F5"/>
                </a:solidFill>
              </a:defRPr>
            </a:pPr>
            <a:r>
              <a:t>• SDG 12: Responsible Consumption:</a:t>
            </a:r>
            <a:br/>
            <a:r>
              <a:t>  Target 12.8: Demanding corporate disclosure on plant vs. animal additive origins.</a:t>
            </a:r>
          </a:p>
          <a:p>
            <a:pPr>
              <a:spcBef>
                <a:spcPts val="600"/>
              </a:spcBef>
              <a:defRPr sz="950">
                <a:solidFill>
                  <a:srgbClr val="FAF8F5"/>
                </a:solidFill>
              </a:defRPr>
            </a:pPr>
            <a:r>
              <a:t>• SDG 9: Industry &amp; Innovation:</a:t>
            </a:r>
            <a:br/>
            <a:r>
              <a:t>  Target 9.c: Democratizing access to ultra-fast sub-second AI inference on low-cost devices.</a:t>
            </a:r>
          </a:p>
          <a:p>
            <a:pPr>
              <a:spcBef>
                <a:spcPts val="600"/>
              </a:spcBef>
              <a:defRPr sz="950">
                <a:solidFill>
                  <a:srgbClr val="FAF8F5"/>
                </a:solidFill>
              </a:defRPr>
            </a:pPr>
            <a:r>
              <a:t>• SDG 16: Peace, Justice &amp; Institutions:</a:t>
            </a:r>
            <a:br/>
            <a:r>
              <a:t>  Target 16.6: Countering counterfeit Halal badges and fraudulent packaging claims.</a:t>
            </a:r>
          </a:p>
          <a:p>
            <a:pPr>
              <a:spcBef>
                <a:spcPts val="600"/>
              </a:spcBef>
              <a:defRPr sz="950">
                <a:solidFill>
                  <a:srgbClr val="FAF8F5"/>
                </a:solidFill>
              </a:defRPr>
            </a:pPr>
            <a:r>
              <a:t>• SDG 17: Partnerships for the Goals:</a:t>
            </a:r>
            <a:br/>
            <a:r>
              <a:t>  Target 17.16: Harmonizing standards across JAKIM, IFANCA &amp; SANHA.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EE7B7"/>
                </a:solidFill>
                <a:latin typeface="Arial"/>
              </a:defRPr>
            </a:pPr>
            <a:r>
              <a:t>TaqwaLens Core Engineering Team // 2026   •   SLIDE 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10 // STRATEGIC HORIZON</a:t>
            </a:r>
          </a:p>
          <a:p>
            <a:pPr>
              <a:spcBef>
                <a:spcPts val="400"/>
              </a:spcBef>
              <a:defRPr sz="2400" b="1">
                <a:solidFill>
                  <a:srgbClr val="FAF8F5"/>
                </a:solidFill>
                <a:latin typeface="Georgia"/>
              </a:defRPr>
            </a:pPr>
            <a:r>
              <a:t>The Future of Halal Tech: Roadmap to Global Scale</a:t>
            </a:r>
          </a:p>
          <a:p>
            <a:pPr>
              <a:spcBef>
                <a:spcPts val="300"/>
              </a:spcBef>
              <a:defRPr sz="1200">
                <a:solidFill>
                  <a:srgbClr val="6EE7B7"/>
                </a:solidFill>
                <a:latin typeface="Arial"/>
              </a:defRPr>
            </a:pPr>
            <a:r>
              <a:t>From individual supermarket scanner to global institutional food supply chain verification.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2926080"/>
          </a:xfrm>
          <a:prstGeom prst="roundRect">
            <a:avLst/>
          </a:prstGeom>
          <a:solidFill>
            <a:srgbClr val="04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PHASE 2 // NEAR-TERM</a:t>
            </a:r>
          </a:p>
          <a:p>
            <a:pPr>
              <a:spcBef>
                <a:spcPts val="400"/>
              </a:spcBef>
              <a:defRPr sz="1400" b="1">
                <a:solidFill>
                  <a:srgbClr val="FAF8F5"/>
                </a:solidFill>
              </a:defRPr>
            </a:pPr>
            <a:r>
              <a:t>Offline Edge &amp; IoT Model</a:t>
            </a:r>
          </a:p>
          <a:p>
            <a:pPr>
              <a:spcBef>
                <a:spcPts val="600"/>
              </a:spcBef>
              <a:defRPr sz="1050">
                <a:solidFill>
                  <a:srgbClr val="A7F3D0"/>
                </a:solidFill>
              </a:defRPr>
            </a:pPr>
            <a:r>
              <a:t>On-device quantized vision models (WebAssembly / ONNX) for zero-latency scanning in basement grocery aisles with zero cellular connectivity.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2926080"/>
          </a:xfrm>
          <a:prstGeom prst="roundRect">
            <a:avLst/>
          </a:prstGeom>
          <a:solidFill>
            <a:srgbClr val="04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PHASE 3 // MEDIUM-TERM</a:t>
            </a:r>
          </a:p>
          <a:p>
            <a:pPr>
              <a:spcBef>
                <a:spcPts val="400"/>
              </a:spcBef>
              <a:defRPr sz="1400" b="1">
                <a:solidFill>
                  <a:srgbClr val="FAF8F5"/>
                </a:solidFill>
              </a:defRPr>
            </a:pPr>
            <a:r>
              <a:t>Global Body Federation</a:t>
            </a:r>
          </a:p>
          <a:p>
            <a:pPr>
              <a:spcBef>
                <a:spcPts val="600"/>
              </a:spcBef>
              <a:defRPr sz="1050">
                <a:solidFill>
                  <a:srgbClr val="A7F3D0"/>
                </a:solidFill>
              </a:defRPr>
            </a:pPr>
            <a:r>
              <a:t>Direct API synchronization with official regulatory registries (JAKIM e-Halal, BPJPH Indonesia) with cryptographic certificate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2926080"/>
          </a:xfrm>
          <a:prstGeom prst="roundRect">
            <a:avLst/>
          </a:prstGeom>
          <a:solidFill>
            <a:srgbClr val="04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EF3C7"/>
                </a:solidFill>
              </a:defRPr>
            </a:pPr>
            <a:r>
              <a:t>PHASE 4 // LONG-TERM</a:t>
            </a:r>
          </a:p>
          <a:p>
            <a:pPr>
              <a:spcBef>
                <a:spcPts val="400"/>
              </a:spcBef>
              <a:defRPr sz="1400" b="1">
                <a:solidFill>
                  <a:srgbClr val="FAF8F5"/>
                </a:solidFill>
              </a:defRPr>
            </a:pPr>
            <a:r>
              <a:t>Supply Chain ERP Connector</a:t>
            </a:r>
          </a:p>
          <a:p>
            <a:pPr>
              <a:spcBef>
                <a:spcPts val="600"/>
              </a:spcBef>
              <a:defRPr sz="1050">
                <a:solidFill>
                  <a:srgbClr val="A7F3D0"/>
                </a:solidFill>
              </a:defRPr>
            </a:pPr>
            <a:r>
              <a:t>B2B bulk specification sheet auditor parsing multi-page supplier PDFs/CSVs for international food importers and airline catering.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728655" cy="914400"/>
          </a:xfrm>
          <a:prstGeom prst="roundRect">
            <a:avLst/>
          </a:prstGeom>
          <a:solidFill>
            <a:srgbClr val="063C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EXPERIENCE TAQWALENS LIVE</a:t>
            </a:r>
          </a:p>
          <a:p>
            <a:pPr>
              <a:spcBef>
                <a:spcPts val="400"/>
              </a:spcBef>
              <a:defRPr sz="1100">
                <a:solidFill>
                  <a:srgbClr val="FAF8F5"/>
                </a:solidFill>
              </a:defRPr>
            </a:pPr>
            <a:r>
              <a:t>Open Source Repository: github.com/lizzz-dev/taqwalens   •   Live Web App: taqwalens.vercel.app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EE7B7"/>
                </a:solidFill>
                <a:latin typeface="Arial"/>
              </a:defRPr>
            </a:pPr>
            <a:r>
              <a:t>TaqwaLens Core Engineering Team // Final Approved Presentation   •   SLIDE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